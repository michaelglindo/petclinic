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14B8A6"/>
                </a:solidFill>
              </a:defRPr>
            </a:pPr>
            <a:r>
              <a:t>PetClinic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Sistema de Gestion Veterinaria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Arquitectura, Backend, Frontend, Seguridad y Automatizacion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5CF6"/>
                </a:solidFill>
              </a:defRPr>
            </a:pPr>
            <a:r>
              <a:t>Integrante: Michael Galindo  |  Junio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B8A6"/>
                </a:solidFill>
              </a:defRPr>
            </a:pPr>
            <a:r>
              <a:t>1. Que es PetClinic?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754880"/>
          </a:xfrm>
          <a:prstGeom prst="round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Descripcion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Sistema completo de gestion para veterinarias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Administra: Dueños, Mascotas, Turnos e Historial Clinico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Backend API + Frontend Web + Automatizacion de pruebas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App movil: pendiente de implementar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Estructura del Proyecto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backend/  →  API REST con Python FastAPI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frontend-web/  →  App web con React 19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PetClinicAutomation/  →  Serenity BDD + Cucumber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DOCUMENTACION/  →  Diagramas y docs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app-movil/  →  Vacia (pendiente)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B8A6"/>
                </a:solidFill>
              </a:defRPr>
            </a:pPr>
            <a:r>
              <a:t>2. Stack Tecnologico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463040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587828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Componente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Tecnologia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Estado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Backend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Python FastAPI + SQLAlchemy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Activo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Frontend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React 19 + React Router v7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Activo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Base de Datos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MySQL (veterinaria)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Activo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Autenticacion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JWT (HS256, 60min)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Activo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Automatizacion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Serenity BDD + Cucumber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Activo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App Movil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Pendiente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B8A6"/>
                </a:solidFill>
              </a:defRPr>
            </a:pPr>
            <a:r>
              <a:t>3. Modelo de Dominio (5 Entidades)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Entidad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Tabla BD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Campos Principales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Dueno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duenos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cedula (PK), nombre, telefono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Mascota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mascotas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id (PK), nombre, especie, edad, dueno_cedula (FK)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Turno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turnos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id (PK), fecha, motivo, mascota_id (FK)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Historial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historial_clinico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id (PK), fecha, descripcion, diagnostico, mascota_id (FK)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Usuario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usuarios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id (PK), username, password_hash, rol, dueno_cedula (FK)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4846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Relaciones: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  <a:r>
              <a:t>- Dueno (1) → (*) Mascota  |  Mascota (1) → (*) Turno  |  Mascota (1) → (*) Historial</a:t>
            </a:r>
          </a:p>
          <a:p>
            <a:pPr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  <a:r>
              <a:t>- Dueno (1) → (1) Usuario  |  ON DELETE CASCADE en todas las foreign keys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B8A6"/>
                </a:solidFill>
              </a:defRPr>
            </a:pPr>
            <a:r>
              <a:t>4. Backend - Python FastAPI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846320"/>
          </a:xfrm>
          <a:prstGeom prst="round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Arquitectura en Capas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Router Layer: endpoints HTTP, respuestas JSON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CRUD Layer: operaciones de base de datos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Model Layer: entidades con SQLAlchemy ORM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Schema Layer: validacion con Pydantic (DTOs)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Security: JWT + bcrypt + roles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Archivos Principales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main.py →入口, CORS, routers, crea tablas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database.py → conexion MySQL, get_db()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models.py → modelos SQLAlchemy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schemas.py → schemas Pydantic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crud.py → operaciones CRUD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security.py → hash bcrypt, JWT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roles.py → require_role() autorizacion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B8A6"/>
                </a:solidFill>
              </a:defRPr>
            </a:pPr>
            <a:r>
              <a:t>5. Endpoints API REST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0584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Metodo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Ruta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Descripcion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/auth/login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Login, retorna token JWT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POST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/auth/register-client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Registrar cliente + dueo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GET/POST/PUT/DELETE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/api/duenos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CRUD Dueños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GET/POST/PUT/DELETE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/api/mascotas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CRUD Mascotas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GET/POST/PUT/DELETE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/api/turnos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CRUD Turnos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GET/POST/PUT/DELETE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/api/historiales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CRUD Historial Clinico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GET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/api/dashboard/stats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Estadisticas del dashboard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669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AB308"/>
                </a:solidFill>
              </a:defRPr>
            </a:pPr>
            <a:r>
              <a:t>DELETE retorna 204 (sin contenido). Solo ADMIN puede eliminar registros.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B8A6"/>
                </a:solidFill>
              </a:defRPr>
            </a:pPr>
            <a:r>
              <a:t>6. Frontend - React 19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846320"/>
          </a:xfrm>
          <a:prstGeom prst="round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Paginas Principales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Login → auth dual login/registro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Dashboard → panel estadisticas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Duenos → CRUD completo (tabla + form)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Mascotas → CRUD completo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Turnos → CRUD con picker fecha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ClientPortal → vista cliente (tabs)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Tecnologias y Estado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React 19 (SPA con React Router v7)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Estado: useState + useEffect + localStorage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Tema oscuro: CSS Custom Properties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Colores: Teal (#14b8a6) + Violet (#8b5cf6)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Responsive: media query 768px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Deploy: Vercel (automatico desde GitHub)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B8A6"/>
                </a:solidFill>
              </a:defRPr>
            </a:pPr>
            <a:r>
              <a:t>7. Autenticacion y Seguridad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846320"/>
          </a:xfrm>
          <a:prstGeom prst="round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Flujo JWT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1. Usuario ingresa credenciales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2. POST /auth/login → backend verifica bcrypt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3. Genera JWT: HS256, 60 min expira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4. Payload: sub(usuario), rol, dueno_cedula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5. Frontend guarda en localStorage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6. Todas las peticiones incluyen: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   Authorization: Bearer [token]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Roles y Permisos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2194560"/>
          <a:ext cx="47548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960"/>
                <a:gridCol w="1584960"/>
                <a:gridCol w="1584960"/>
              </a:tblGrid>
              <a:tr h="533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Operacion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ADMIN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USER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Crear Dueño/Mascota/Turno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Ver Dashboard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Ver Sus Propios Datos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Eliminar registros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Crear/Eliminar Historial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Si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92240" y="5577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C8C8"/>
                </a:solidFill>
              </a:defRPr>
            </a:pPr>
            <a:r>
              <a:t>CORS: localhost:3000, :5173, vercel.app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B8A6"/>
                </a:solidFill>
              </a:defRPr>
            </a:pPr>
            <a:r>
              <a:t>8. Automatizacion - Serenity BDD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846320"/>
          </a:xfrm>
          <a:prstGeom prst="round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Stack y Patron Screenplay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Serenity BDD 5.3.9 + Cucumber 7.15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Selenium WebDriver + WebDriverManager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JUnit 4.13.2 como test runner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Patron Screenplay: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Models: DuenoData, MascotaData, TurnoData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Tasks: 7 acciones (login, CRUD, etc.)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Questions: 5 validaciones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Pages: LoginPage, DashboardPage, etc.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8 Escenarios de Prueba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2194560"/>
          <a:ext cx="47548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4064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Escenario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Registrar un dueno exitosamente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Registrar mascota con dueno existente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Registrar turno con mascota existente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Consultar mascotas registradas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Consultar turnos registrados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Dashboard muestra contadores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Editar dueno existente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Cerrar sesion del sistema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B8A6"/>
                </a:solidFill>
              </a:defRPr>
            </a:pPr>
            <a:r>
              <a:t>9. Base de Datos - MySQL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4846320"/>
          </a:xfrm>
          <a:prstGeom prst="round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Configuracion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Motor: MySQL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Base de datos: veterinaria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Host: localhost:3306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Usuario: root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- DDL Mode: update (auto)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ORM: SQLAlchemy (mapea clases → tablas)</a:t>
            </a:r>
          </a:p>
          <a:p>
            <a:pPr>
              <a:spcAft>
                <a:spcPts val="600"/>
              </a:spcAft>
              <a:defRPr sz="1500">
                <a:solidFill>
                  <a:srgbClr val="C8C8C8"/>
                </a:solidFill>
              </a:defRPr>
            </a:pPr>
            <a:r>
              <a:t>Driver: pymysql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371600"/>
            <a:ext cx="5212080" cy="4846320"/>
          </a:xfrm>
          <a:prstGeom prst="roundRect">
            <a:avLst/>
          </a:prstGeom>
          <a:solidFill>
            <a:srgbClr val="1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</a:defRPr>
            </a:pPr>
            <a:r>
              <a:t>Relaciones y Restricciones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10312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  <a:r>
              <a:t>PRIMARY KEY:</a:t>
            </a:r>
          </a:p>
          <a:p>
            <a:pPr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  <a:r>
              <a:t>  cedula (duenos), id (demas tablas)</a:t>
            </a:r>
          </a:p>
          <a:p>
            <a:pPr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  <a:r>
              <a:t>FOREIGN KEY:</a:t>
            </a:r>
          </a:p>
          <a:p>
            <a:pPr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  <a:r>
              <a:t>  mascotas → duenos</a:t>
            </a:r>
          </a:p>
          <a:p>
            <a:pPr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  <a:r>
              <a:t>  turnos → mascotas</a:t>
            </a:r>
          </a:p>
          <a:p>
            <a:pPr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  <a:r>
              <a:t>  historial → mascotas</a:t>
            </a:r>
          </a:p>
          <a:p>
            <a:pPr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  <a:r>
              <a:t>  usuarios → duenos</a:t>
            </a:r>
          </a:p>
          <a:p>
            <a:pPr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</a:p>
          <a:p>
            <a:pPr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  <a:r>
              <a:t>UNIQUE: username en usuarios</a:t>
            </a:r>
          </a:p>
          <a:p>
            <a:pPr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  <a:r>
              <a:t>DEFAULT: rol = USER</a:t>
            </a:r>
          </a:p>
          <a:p>
            <a:pPr>
              <a:spcAft>
                <a:spcPts val="600"/>
              </a:spcAft>
              <a:defRPr sz="1400">
                <a:solidFill>
                  <a:srgbClr val="C8C8C8"/>
                </a:solidFill>
              </a:defRPr>
            </a:pPr>
            <a:r>
              <a:t>ON DELETE CASCADE en todas las FK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4B8A6"/>
                </a:solidFill>
              </a:defRPr>
            </a:pPr>
            <a:r>
              <a:t>10. Resumen y Estado del Proyecto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10058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52251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Componente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Estado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Detalle</a:t>
                      </a:r>
                    </a:p>
                  </a:txBody>
                  <a:tcPr>
                    <a:solidFill>
                      <a:srgbClr val="14B8A6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Backend FastAPI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COMPLETO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CRUD, Auth JWT, Dashboard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Frontend React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COMPLETO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Login, CRUD, Portal, Dashboard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Base de Datos MySQL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COMPLETO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5 tablas, relaciones OK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Automatizacion E2E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COMPLETO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8 escenarios, reportes HTML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App Movil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PENDIENTE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Carpeta vacia</a:t>
                      </a:r>
                    </a:p>
                  </a:txBody>
                  <a:tcPr>
                    <a:solidFill>
                      <a:srgbClr val="1A2035"/>
                    </a:solidFill>
                  </a:tcPr>
                </a:tc>
              </a:tr>
              <a:tr h="52251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Documentacion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PARCIAL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8C8C8"/>
                          </a:solidFill>
                        </a:defRPr>
                      </a:pPr>
                      <a:r>
                        <a:t>Diagrama de clases UML</a:t>
                      </a:r>
                    </a:p>
                  </a:txBody>
                  <a:tcPr>
                    <a:solidFill>
                      <a:srgbClr val="141C30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8C8C8"/>
                </a:solidFill>
              </a:defRPr>
            </a:pPr>
            <a:r>
              <a:t>Herramientas: Git/GitHub, VS Code, Postman, draw.io, MySQL Workbench, Vercel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